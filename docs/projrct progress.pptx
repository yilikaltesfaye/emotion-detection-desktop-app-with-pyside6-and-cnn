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1" r:id="rId7"/>
    <p:sldId id="264" r:id="rId8"/>
    <p:sldId id="266" r:id="rId9"/>
    <p:sldId id="267" r:id="rId10"/>
    <p:sldId id="265" r:id="rId11"/>
    <p:sldId id="2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3C9D7-C994-93A8-EF7E-0517272E82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82ABBD-E052-BD0D-DB0E-CA0C5186A7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D9B74-0BAC-3863-6B77-36F1557DC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6E1F7-4E9A-4C8E-A863-882DC62FDF1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F956F-928D-24FA-EEC8-3FDA75C61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A1CAA-D4DE-EF2D-BFFE-742E25422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3733F-9AE9-4D5C-8710-AF5396A33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221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7F77-0F66-6CC5-EED1-181BEC567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D00D8-8A84-1A8A-DCF8-2E42E58CA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1A39D-0B23-E0BE-BA1C-FDE878E0F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6E1F7-4E9A-4C8E-A863-882DC62FDF1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2B8E3-9DE7-6901-CB40-045A8956B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08553-BF63-6545-D4D9-C4CD0475F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3733F-9AE9-4D5C-8710-AF5396A33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879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20AB8-80E5-7452-5918-6A2E5590C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203B73-B433-9356-A194-86B35EC31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D543C-06DD-187A-8970-50CEBB1D7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6E1F7-4E9A-4C8E-A863-882DC62FDF1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546F0-3B90-7286-2C7D-BDEDE396E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C482B-A778-BD51-5949-2A458CF7F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3733F-9AE9-4D5C-8710-AF5396A33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098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6D286-A705-F02C-AF33-8BFE73515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B5A37-F918-0CD2-9F1C-06A8234112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7DF28D-4DD0-475D-355A-CC6FB48606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FAAD7B-FA4C-27A8-591B-2ECC7FADC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6E1F7-4E9A-4C8E-A863-882DC62FDF1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C93DE-BB3E-052E-5883-EFEE9B372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B4453C-BC68-1DFA-CC58-BC2C0FFA4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3733F-9AE9-4D5C-8710-AF5396A33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826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9C2AD-CB01-45AD-AC6E-53B71AC79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CE511C-60F6-9E9B-19DC-2D6F93447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9661BC-4092-6982-75A2-882B977D49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3E3D01-D3F6-A948-4EE1-822B9628DA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753E6C-FEBB-A731-9C51-30407EE403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82FAB0-7FDB-8637-1F51-D3BFA8251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6E1F7-4E9A-4C8E-A863-882DC62FDF1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5DEB44-2F01-2490-227C-444BB59B8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5CB427-6B96-229D-6A2D-3ECE19249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3733F-9AE9-4D5C-8710-AF5396A33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407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22A50-AF0D-BB7F-C961-6E5CC75C1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8AD2FA-FF0D-B9CF-0C7C-84553A7E8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6E1F7-4E9A-4C8E-A863-882DC62FDF1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6674F4-8C93-F2B1-CC20-891CF30D3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C8046C-219F-441A-73E9-7853A2EF3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3733F-9AE9-4D5C-8710-AF5396A33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186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AFA517-381B-D68B-6089-2CB335D5E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6E1F7-4E9A-4C8E-A863-882DC62FDF1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F0ED0C-104F-7455-0598-1CC2FBE5F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D1E560-9C8D-7426-0F7D-B47FAED66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3733F-9AE9-4D5C-8710-AF5396A33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50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09BEF-D2F5-89F5-214A-042E403DD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7CC1D-2DE5-0C15-E17F-8CD18DAFE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B77C5F-17B2-2D6A-CA99-15FEBFE3B4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FF2D55-7BD9-F6E1-1238-9E0FD1E01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6E1F7-4E9A-4C8E-A863-882DC62FDF1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CEB2F5-B580-3EA3-2609-F9B0498FF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2454D1-009F-33DD-7B83-EFF81B71F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3733F-9AE9-4D5C-8710-AF5396A33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701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47C53-C7D3-C5E2-6028-3A5B97AC3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2763FA-609B-6A74-D391-B0A139966F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3D8FDC-4612-1343-C12B-CD0C47C67D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504919-17C6-939D-6203-9F04C6A03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6E1F7-4E9A-4C8E-A863-882DC62FDF1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4108BE-B274-59AC-1E97-B6BA3D334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15B3FA-4EEC-065F-152D-556BD874C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3733F-9AE9-4D5C-8710-AF5396A33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142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DA6C6-0AF3-0290-80D0-F3B2C9026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440E5C-8F41-9B83-AC53-496AE3CE3F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81157-5C37-99CB-BDFF-93893B4A9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6E1F7-4E9A-4C8E-A863-882DC62FDF1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9D582-50E5-4890-A1CE-BD3E93716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A647-52A8-EEB2-A2DC-46FA777F5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3733F-9AE9-4D5C-8710-AF5396A33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94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F9B6AD-CC13-0696-B36B-00803364BC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89423-482D-E197-4238-A63577C9A3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4563E-DCE8-6F85-7234-690FFA95B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6E1F7-4E9A-4C8E-A863-882DC62FDF1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8DCAD-D771-1548-A0AA-03DCD7D6E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4236E-2CC2-55CC-9ED4-449ED8386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3733F-9AE9-4D5C-8710-AF5396A33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206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35D1C7-3804-5A59-838B-E18B9B875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3F610F-3CC3-79B6-915A-B50C1C84E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71104-2752-36EF-E67A-6414412791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66E1F7-4E9A-4C8E-A863-882DC62FDF1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F552A-C9D4-06AC-0E09-50AFD4DC28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F983E-8C2D-D426-449B-BC3FD63273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3733F-9AE9-4D5C-8710-AF5396A33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192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6054F-7F7B-BC22-C23D-C7C9866451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7213" y="2114550"/>
            <a:ext cx="11301412" cy="2757488"/>
          </a:xfrm>
        </p:spPr>
        <p:txBody>
          <a:bodyPr>
            <a:normAutofit/>
          </a:bodyPr>
          <a:lstStyle/>
          <a:p>
            <a:r>
              <a:rPr lang="en-US" dirty="0"/>
              <a:t>Real-Time Facial Emotion Detection Desktop Application</a:t>
            </a:r>
          </a:p>
        </p:txBody>
      </p:sp>
    </p:spTree>
    <p:extLst>
      <p:ext uri="{BB962C8B-B14F-4D97-AF65-F5344CB8AC3E}">
        <p14:creationId xmlns:p14="http://schemas.microsoft.com/office/powerpoint/2010/main" val="1118848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24D1-C787-2898-4514-305F8B530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&amp;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DDA61-FCAF-3981-2B24-202B59D51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Humans naturally interpret emotions, but computers struggle with real-time understanding.</a:t>
            </a:r>
          </a:p>
          <a:p>
            <a:r>
              <a:rPr lang="en-US" dirty="0"/>
              <a:t>Existing systems: </a:t>
            </a:r>
          </a:p>
          <a:p>
            <a:pPr lvl="1"/>
            <a:r>
              <a:rPr lang="en-US" dirty="0"/>
              <a:t>Require high computational power (GPU)</a:t>
            </a:r>
          </a:p>
          <a:p>
            <a:pPr lvl="1"/>
            <a:r>
              <a:rPr lang="en-US" dirty="0"/>
              <a:t>Depend on internet/cloud processing</a:t>
            </a:r>
          </a:p>
          <a:p>
            <a:pPr lvl="1"/>
            <a:r>
              <a:rPr lang="en-US" dirty="0"/>
              <a:t>Not optimized for low-resource environments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Motivation</a:t>
            </a:r>
          </a:p>
          <a:p>
            <a:pPr marL="0" indent="0">
              <a:buNone/>
            </a:pPr>
            <a:r>
              <a:rPr lang="en-US" sz="2400" dirty="0"/>
              <a:t>Build a </a:t>
            </a:r>
            <a:r>
              <a:rPr lang="en-US" sz="2400" b="1" dirty="0"/>
              <a:t>real-time, offline, CPU-efficient system</a:t>
            </a:r>
            <a:r>
              <a:rPr lang="en-US" sz="2400" dirty="0"/>
              <a:t> capable of detecting emotions from facial expressions.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813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F540E-FB95-9BD5-52C6-4B8937B85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CD6F1-B844-04EF-AFE5-A61F7E7C9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1428750"/>
            <a:ext cx="10653712" cy="5200650"/>
          </a:xfrm>
        </p:spPr>
        <p:txBody>
          <a:bodyPr>
            <a:noAutofit/>
          </a:bodyPr>
          <a:lstStyle/>
          <a:p>
            <a:r>
              <a:rPr lang="en-US" sz="2400" dirty="0"/>
              <a:t> </a:t>
            </a:r>
            <a:r>
              <a:rPr lang="en-US" dirty="0"/>
              <a:t>It is a combination of standard datasets </a:t>
            </a:r>
          </a:p>
          <a:p>
            <a:pPr lvl="2"/>
            <a:r>
              <a:rPr lang="en-US" sz="2400" dirty="0"/>
              <a:t>FER2013 ------large but noisy, </a:t>
            </a:r>
          </a:p>
          <a:p>
            <a:pPr lvl="2"/>
            <a:r>
              <a:rPr lang="en-US" sz="2400" dirty="0"/>
              <a:t>CK+ -----------clean but small,</a:t>
            </a:r>
          </a:p>
          <a:p>
            <a:pPr lvl="2"/>
            <a:r>
              <a:rPr lang="en-US" sz="2400" dirty="0"/>
              <a:t> </a:t>
            </a:r>
            <a:r>
              <a:rPr lang="en-US" sz="2400" dirty="0" err="1"/>
              <a:t>AffectNet</a:t>
            </a:r>
            <a:r>
              <a:rPr lang="en-US" sz="2400" dirty="0"/>
              <a:t> ---- diverse, and </a:t>
            </a:r>
          </a:p>
          <a:p>
            <a:pPr lvl="2"/>
            <a:r>
              <a:rPr lang="en-US" sz="2400" dirty="0"/>
              <a:t>KDEF ---------well-posed.</a:t>
            </a:r>
          </a:p>
          <a:p>
            <a:r>
              <a:rPr lang="en-US" dirty="0"/>
              <a:t>Why did we combine multiple datasets?</a:t>
            </a:r>
          </a:p>
          <a:p>
            <a:r>
              <a:rPr lang="en-US" dirty="0"/>
              <a:t>What technique did we use to combine?</a:t>
            </a:r>
          </a:p>
          <a:p>
            <a:r>
              <a:rPr lang="en-US" dirty="0"/>
              <a:t>Why did we balance the dataset?</a:t>
            </a:r>
          </a:p>
          <a:p>
            <a:r>
              <a:rPr lang="en-US" dirty="0"/>
              <a:t>How does dataset size affect performance?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52356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381D7-51D8-111C-74AF-0CC0CE722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365125"/>
            <a:ext cx="5491164" cy="1325563"/>
          </a:xfrm>
        </p:spPr>
        <p:txBody>
          <a:bodyPr/>
          <a:lstStyle/>
          <a:p>
            <a:pPr algn="ctr"/>
            <a:r>
              <a:rPr lang="en-US" dirty="0"/>
              <a:t>Dataset 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7B1DA-A16D-0221-949C-B2736D0FC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1150" cy="4351338"/>
          </a:xfrm>
        </p:spPr>
        <p:txBody>
          <a:bodyPr/>
          <a:lstStyle/>
          <a:p>
            <a:r>
              <a:rPr lang="en-US" dirty="0"/>
              <a:t>Balanced</a:t>
            </a:r>
            <a:r>
              <a:rPr lang="en-US" b="1" dirty="0"/>
              <a:t> </a:t>
            </a:r>
            <a:r>
              <a:rPr lang="en-US" dirty="0"/>
              <a:t>(equal samples per each class) </a:t>
            </a:r>
          </a:p>
          <a:p>
            <a:r>
              <a:rPr lang="en-US" dirty="0"/>
              <a:t>7 emotion classes: </a:t>
            </a:r>
          </a:p>
          <a:p>
            <a:pPr lvl="1"/>
            <a:r>
              <a:rPr lang="en-US" dirty="0"/>
              <a:t>Angry, </a:t>
            </a:r>
          </a:p>
          <a:p>
            <a:pPr lvl="1"/>
            <a:r>
              <a:rPr lang="en-US" dirty="0"/>
              <a:t>Disgust, </a:t>
            </a:r>
          </a:p>
          <a:p>
            <a:pPr lvl="1"/>
            <a:r>
              <a:rPr lang="en-US" dirty="0"/>
              <a:t>Fear, </a:t>
            </a:r>
          </a:p>
          <a:p>
            <a:pPr lvl="1"/>
            <a:r>
              <a:rPr lang="en-US" dirty="0"/>
              <a:t>Happy, </a:t>
            </a:r>
          </a:p>
          <a:p>
            <a:pPr lvl="1"/>
            <a:r>
              <a:rPr lang="en-US" dirty="0"/>
              <a:t>Sad, </a:t>
            </a:r>
          </a:p>
          <a:p>
            <a:pPr lvl="1"/>
            <a:r>
              <a:rPr lang="en-US" dirty="0"/>
              <a:t>Surprise, </a:t>
            </a:r>
          </a:p>
          <a:p>
            <a:pPr lvl="1"/>
            <a:r>
              <a:rPr lang="en-US" dirty="0"/>
              <a:t>Neutral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E8F100B-0B37-D318-F100-ED5856499275}"/>
              </a:ext>
            </a:extLst>
          </p:cNvPr>
          <p:cNvSpPr txBox="1">
            <a:spLocks/>
          </p:cNvSpPr>
          <p:nvPr/>
        </p:nvSpPr>
        <p:spPr>
          <a:xfrm>
            <a:off x="6657976" y="365125"/>
            <a:ext cx="469582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Dataset Size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40EE713-7CDF-2A28-69C7-F35337A8CF10}"/>
              </a:ext>
            </a:extLst>
          </p:cNvPr>
          <p:cNvSpPr txBox="1">
            <a:spLocks/>
          </p:cNvSpPr>
          <p:nvPr/>
        </p:nvSpPr>
        <p:spPr>
          <a:xfrm>
            <a:off x="6657976" y="1825625"/>
            <a:ext cx="469582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Training set:</a:t>
            </a:r>
            <a:r>
              <a:rPr lang="en-US" sz="2400" dirty="0"/>
              <a:t> </a:t>
            </a:r>
          </a:p>
          <a:p>
            <a:pPr lvl="1"/>
            <a:r>
              <a:rPr lang="en-US" dirty="0"/>
              <a:t>6,400 images × 7 emotions = </a:t>
            </a:r>
            <a:r>
              <a:rPr lang="en-US" b="1" dirty="0"/>
              <a:t>44,800 images</a:t>
            </a:r>
            <a:r>
              <a:rPr lang="en-US" dirty="0"/>
              <a:t> </a:t>
            </a:r>
          </a:p>
          <a:p>
            <a:r>
              <a:rPr lang="en-US" sz="2400" b="1" dirty="0"/>
              <a:t>Testing set:</a:t>
            </a:r>
            <a:r>
              <a:rPr lang="en-US" sz="2400" dirty="0"/>
              <a:t> </a:t>
            </a:r>
          </a:p>
          <a:p>
            <a:pPr lvl="1"/>
            <a:r>
              <a:rPr lang="en-US" dirty="0"/>
              <a:t>1,600 images × 7 emotions = </a:t>
            </a:r>
            <a:r>
              <a:rPr lang="en-US" b="1" dirty="0"/>
              <a:t>11,200 images</a:t>
            </a:r>
            <a:r>
              <a:rPr lang="en-US" dirty="0"/>
              <a:t> </a:t>
            </a:r>
          </a:p>
          <a:p>
            <a:r>
              <a:rPr lang="en-US" sz="2400" b="1" dirty="0"/>
              <a:t>Total size: </a:t>
            </a:r>
          </a:p>
          <a:p>
            <a:pPr lvl="1"/>
            <a:r>
              <a:rPr lang="en-US" b="1" dirty="0"/>
              <a:t>56,000 images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815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1F163-72FB-2A8A-6848-19B0FF7BE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3737"/>
            <a:ext cx="10515600" cy="4351338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Conv2D(32, (3,3), padding='same')(inputs)</a:t>
            </a:r>
          </a:p>
          <a:p>
            <a:r>
              <a:rPr lang="en-US" dirty="0"/>
              <a:t>Conv2D(64, (3,3), padding='same')(x)</a:t>
            </a:r>
          </a:p>
          <a:p>
            <a:r>
              <a:rPr lang="en-US" dirty="0"/>
              <a:t>Conv2D(128, (3,3), padding='same')(x)</a:t>
            </a:r>
          </a:p>
          <a:p>
            <a:r>
              <a:rPr lang="en-US" dirty="0"/>
              <a:t>Conv2D(256, (3,3), padding='same')(x)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171AF01-5710-4D92-FBA5-B74440EA14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Model Training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A548042-8650-6759-9D85-5A90AFDF15D9}"/>
              </a:ext>
            </a:extLst>
          </p:cNvPr>
          <p:cNvSpPr txBox="1">
            <a:spLocks/>
          </p:cNvSpPr>
          <p:nvPr/>
        </p:nvSpPr>
        <p:spPr>
          <a:xfrm>
            <a:off x="1709737" y="1637506"/>
            <a:ext cx="4705350" cy="65246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Deep layers</a:t>
            </a:r>
          </a:p>
        </p:txBody>
      </p:sp>
    </p:spTree>
    <p:extLst>
      <p:ext uri="{BB962C8B-B14F-4D97-AF65-F5344CB8AC3E}">
        <p14:creationId xmlns:p14="http://schemas.microsoft.com/office/powerpoint/2010/main" val="2786517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BC9D5-3F30-20A8-8F7E-8D5BBAAE8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trial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A5C05-F02D-E8AA-002B-1B1A63D33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Parameters</a:t>
            </a:r>
          </a:p>
          <a:p>
            <a:pPr lvl="1"/>
            <a:r>
              <a:rPr lang="en-US" dirty="0"/>
              <a:t>IMAGE_SIZE = (48, 48)  - reduce computational load</a:t>
            </a:r>
          </a:p>
          <a:p>
            <a:pPr lvl="1"/>
            <a:r>
              <a:rPr lang="en-US" dirty="0"/>
              <a:t>BATCH_SIZE = 32</a:t>
            </a:r>
          </a:p>
          <a:p>
            <a:pPr lvl="2"/>
            <a:r>
              <a:rPr lang="en-US" dirty="0"/>
              <a:t>Too small batch: Model may underfit (noisy updates, slow convergence).</a:t>
            </a:r>
          </a:p>
          <a:p>
            <a:pPr lvl="2"/>
            <a:r>
              <a:rPr lang="en-US" dirty="0"/>
              <a:t>Too large batch: Model may overfit (memorizes patterns, less generalization).</a:t>
            </a:r>
          </a:p>
          <a:p>
            <a:pPr lvl="1"/>
            <a:r>
              <a:rPr lang="en-US" dirty="0"/>
              <a:t>EPOCHS = 25</a:t>
            </a:r>
          </a:p>
          <a:p>
            <a:pPr lvl="1"/>
            <a:r>
              <a:rPr lang="en-US" dirty="0"/>
              <a:t>NUM_CLASSES = 7</a:t>
            </a:r>
          </a:p>
          <a:p>
            <a:pPr lvl="1"/>
            <a:r>
              <a:rPr lang="en-US" dirty="0"/>
              <a:t>COLOR_MODE = "grayscale“</a:t>
            </a:r>
          </a:p>
          <a:p>
            <a:r>
              <a:rPr lang="en-US" dirty="0"/>
              <a:t> Test Accuracy: 61.04%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135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BF2AE85-D7DB-A8F0-0A52-A8FDC8D88201}"/>
              </a:ext>
            </a:extLst>
          </p:cNvPr>
          <p:cNvSpPr txBox="1">
            <a:spLocks/>
          </p:cNvSpPr>
          <p:nvPr/>
        </p:nvSpPr>
        <p:spPr>
          <a:xfrm>
            <a:off x="7768429" y="400048"/>
            <a:ext cx="4423571" cy="60579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Strong Performance</a:t>
            </a:r>
          </a:p>
          <a:p>
            <a:pPr lvl="1"/>
            <a:r>
              <a:rPr lang="en-US" dirty="0"/>
              <a:t>Happy (1227),</a:t>
            </a:r>
          </a:p>
          <a:p>
            <a:pPr lvl="1"/>
            <a:r>
              <a:rPr lang="en-US" dirty="0"/>
              <a:t>Disgust (1299),</a:t>
            </a:r>
          </a:p>
          <a:p>
            <a:pPr lvl="1"/>
            <a:r>
              <a:rPr lang="en-US" dirty="0"/>
              <a:t>Surprise (1240)</a:t>
            </a:r>
          </a:p>
          <a:p>
            <a:r>
              <a:rPr lang="en-US" dirty="0"/>
              <a:t> Moderate Performance</a:t>
            </a:r>
          </a:p>
          <a:p>
            <a:pPr lvl="1"/>
            <a:r>
              <a:rPr lang="en-US" dirty="0"/>
              <a:t>Anger </a:t>
            </a:r>
          </a:p>
          <a:p>
            <a:pPr lvl="1"/>
            <a:r>
              <a:rPr lang="en-US" dirty="0"/>
              <a:t>Neutral</a:t>
            </a:r>
          </a:p>
          <a:p>
            <a:r>
              <a:rPr lang="en-US" dirty="0"/>
              <a:t>Weak Performance</a:t>
            </a:r>
          </a:p>
          <a:p>
            <a:pPr lvl="1"/>
            <a:r>
              <a:rPr lang="en-US" dirty="0"/>
              <a:t>Fear </a:t>
            </a:r>
          </a:p>
          <a:p>
            <a:pPr lvl="1"/>
            <a:r>
              <a:rPr lang="en-US" dirty="0"/>
              <a:t>Sadness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8213D7C-87B2-50E4-1FD1-3B065F5D6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7768429" cy="6457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8328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E741D-7202-D7CC-7C8B-9EA4EEBB3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5DBCD-6C42-8E3B-EBBD-129B25A56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Trial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CA5FE-0E91-9BA4-E38E-BBB3E7F80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Parameters</a:t>
            </a:r>
          </a:p>
          <a:p>
            <a:pPr lvl="1"/>
            <a:r>
              <a:rPr lang="en-US" dirty="0"/>
              <a:t>IMAGE_SIZE = (48, 48)  - reduce computational load</a:t>
            </a:r>
          </a:p>
          <a:p>
            <a:pPr lvl="2"/>
            <a:r>
              <a:rPr lang="en-US" b="1" dirty="0"/>
              <a:t>Trade-off:</a:t>
            </a:r>
            <a:r>
              <a:rPr lang="en-US" dirty="0"/>
              <a:t> Smaller images may lose fine-grained details, so accuracy can be slightly lower compared to larger inputs.</a:t>
            </a:r>
          </a:p>
          <a:p>
            <a:pPr lvl="1"/>
            <a:r>
              <a:rPr lang="en-US" dirty="0"/>
              <a:t>BATCH_SIZE = 32</a:t>
            </a:r>
          </a:p>
          <a:p>
            <a:pPr lvl="1"/>
            <a:r>
              <a:rPr lang="en-US" dirty="0"/>
              <a:t>EPOCHS = 30</a:t>
            </a:r>
          </a:p>
          <a:p>
            <a:pPr lvl="1"/>
            <a:r>
              <a:rPr lang="en-US" dirty="0"/>
              <a:t>NUM_CLASSES = 7</a:t>
            </a:r>
          </a:p>
          <a:p>
            <a:pPr lvl="1"/>
            <a:r>
              <a:rPr lang="en-US" dirty="0"/>
              <a:t>COLOR_MODE = "grayscale“</a:t>
            </a:r>
          </a:p>
          <a:p>
            <a:r>
              <a:rPr lang="en-US" dirty="0"/>
              <a:t> Test Accuracy: 64.10%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468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87225-B5B2-3A10-641B-34DE8B118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0F4896AF-397F-D561-52AF-D23892FA00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7768429" cy="645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5BB12D4-D91C-2E35-B224-CEFFF846E5E7}"/>
              </a:ext>
            </a:extLst>
          </p:cNvPr>
          <p:cNvSpPr txBox="1">
            <a:spLocks/>
          </p:cNvSpPr>
          <p:nvPr/>
        </p:nvSpPr>
        <p:spPr>
          <a:xfrm>
            <a:off x="7768429" y="400048"/>
            <a:ext cx="4423571" cy="60579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Strong Performance</a:t>
            </a:r>
          </a:p>
          <a:p>
            <a:pPr lvl="1"/>
            <a:r>
              <a:rPr lang="en-US" dirty="0"/>
              <a:t>Happy (1297 correct),</a:t>
            </a:r>
          </a:p>
          <a:p>
            <a:pPr lvl="1"/>
            <a:r>
              <a:rPr lang="en-US" dirty="0"/>
              <a:t>Disgust (1269 correct),</a:t>
            </a:r>
          </a:p>
          <a:p>
            <a:pPr lvl="1"/>
            <a:r>
              <a:rPr lang="en-US" dirty="0"/>
              <a:t>Surprise (1294 correct)</a:t>
            </a:r>
          </a:p>
          <a:p>
            <a:r>
              <a:rPr lang="en-US" dirty="0"/>
              <a:t> Moderate Performance</a:t>
            </a:r>
          </a:p>
          <a:p>
            <a:pPr lvl="1"/>
            <a:r>
              <a:rPr lang="en-US" dirty="0"/>
              <a:t>Anger </a:t>
            </a:r>
          </a:p>
          <a:p>
            <a:pPr lvl="1"/>
            <a:r>
              <a:rPr lang="en-US" dirty="0"/>
              <a:t>Neutral</a:t>
            </a:r>
          </a:p>
          <a:p>
            <a:r>
              <a:rPr lang="en-US" dirty="0"/>
              <a:t>Weak Performance</a:t>
            </a:r>
          </a:p>
          <a:p>
            <a:pPr lvl="1"/>
            <a:r>
              <a:rPr lang="en-US" dirty="0"/>
              <a:t>Fear is often mistaken for surprise (wide eyes, open mouth) or sadness.</a:t>
            </a:r>
          </a:p>
          <a:p>
            <a:pPr lvl="1"/>
            <a:r>
              <a:rPr lang="en-US" dirty="0"/>
              <a:t>Sadness is confused with neutral and anger.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741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EE069-EFB2-2207-ACDA-732C89EEF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Factors Declining Performance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C64FD-0466-FCE9-745A-546B1C6E8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Feature Overlap Between Emotions</a:t>
            </a:r>
          </a:p>
          <a:p>
            <a:r>
              <a:rPr lang="en-US" dirty="0"/>
              <a:t>Low Input Resolution (48×48 grayscale)</a:t>
            </a:r>
          </a:p>
          <a:p>
            <a:r>
              <a:rPr lang="en-US" dirty="0"/>
              <a:t>Training Strategy</a:t>
            </a:r>
          </a:p>
          <a:p>
            <a:r>
              <a:rPr lang="en-US" dirty="0">
                <a:effectLst/>
              </a:rPr>
              <a:t>Model Architecture Limitations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776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64392-CA3E-E693-A8EA-099D958E9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Integration (Desktop App)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B255B-2DA1-30A0-85CC-447F8C1F9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Framework: PySide6 (Qt for Python)</a:t>
            </a:r>
          </a:p>
          <a:p>
            <a:r>
              <a:rPr lang="en-US" dirty="0"/>
              <a:t>Layout: </a:t>
            </a:r>
          </a:p>
          <a:p>
            <a:pPr lvl="1"/>
            <a:r>
              <a:rPr lang="en-US" sz="2800" dirty="0"/>
              <a:t>split into left panel (camera feed) and right panel (controls + results).</a:t>
            </a:r>
          </a:p>
          <a:p>
            <a:pPr lvl="1"/>
            <a:r>
              <a:rPr lang="en-US" sz="2800" dirty="0"/>
              <a:t>Buttons for Start Camera, Stop Camera, Upload Image, Exit.</a:t>
            </a:r>
          </a:p>
          <a:p>
            <a:pPr lvl="1"/>
            <a:r>
              <a:rPr lang="en-US" sz="2800" dirty="0"/>
              <a:t>Real-time results displayed: </a:t>
            </a:r>
          </a:p>
          <a:p>
            <a:pPr lvl="2"/>
            <a:r>
              <a:rPr lang="en-US" sz="2800" dirty="0"/>
              <a:t>Emotion, Confidence, FPS.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658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eorgia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1061</TotalTime>
  <Words>511</Words>
  <Application>Microsoft Office PowerPoint</Application>
  <PresentationFormat>Widescreen</PresentationFormat>
  <Paragraphs>96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Georgia</vt:lpstr>
      <vt:lpstr>Office Theme</vt:lpstr>
      <vt:lpstr>Real-Time Facial Emotion Detection Desktop Application</vt:lpstr>
      <vt:lpstr>Introduction &amp; Motivation</vt:lpstr>
      <vt:lpstr>Dataset</vt:lpstr>
      <vt:lpstr>Dataset Characteristics</vt:lpstr>
      <vt:lpstr>Model Training</vt:lpstr>
      <vt:lpstr>First trial</vt:lpstr>
      <vt:lpstr>PowerPoint Presentation</vt:lpstr>
      <vt:lpstr>Current Trial</vt:lpstr>
      <vt:lpstr>PowerPoint Presentation</vt:lpstr>
      <vt:lpstr>Possible Factors Declining Performance</vt:lpstr>
      <vt:lpstr>System Integration (Desktop App)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10</cp:revision>
  <dcterms:created xsi:type="dcterms:W3CDTF">2026-04-22T18:16:57Z</dcterms:created>
  <dcterms:modified xsi:type="dcterms:W3CDTF">2026-04-23T11:58:44Z</dcterms:modified>
</cp:coreProperties>
</file>